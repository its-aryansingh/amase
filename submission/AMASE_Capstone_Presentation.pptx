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0" r:id="rId2"/>
    <p:sldId id="265" r:id="rId3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05" r:id="rId5"/>
    <p:sldId id="304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3" d="100"/>
          <a:sy n="63" d="100"/>
        </p:scale>
        <p:origin x="804" y="56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2/18/2025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2/18/2025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AMASE: A Harness-Ablation Framework for Measuring Cost–Quality Trade-offs in Autonomous Software Engineering Agents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46212" y="1828800"/>
            <a:ext cx="9601200" cy="41910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Department of Computer Science and Engineering</a:t>
            </a:r>
          </a:p>
          <a:p>
            <a:pPr algn="ctr" marL="0" indent="0">
              <a:buNone/>
            </a:pPr>
            <a:r>
              <a:rPr sz="1600" b="1">
                <a:solidFill>
                  <a:srgbClr val="1A1A1A"/>
                </a:solidFill>
                <a:latin typeface="Arial"/>
              </a:rPr>
              <a:t>(Supervisor: Mr. &lt;Supervisor Name&gt;, Assistant Professor, CSE)</a:t>
            </a:r>
          </a:p>
          <a:p>
            <a:pPr algn="ctr" marL="0" indent="0">
              <a:buNone/>
            </a:pPr>
          </a:p>
          <a:p>
            <a:pPr algn="ctr" marL="0" indent="0">
              <a:buNone/>
            </a:pPr>
          </a:p>
          <a:p>
            <a:pPr algn="ctr" marL="0" indent="0">
              <a:buNone/>
            </a:pPr>
          </a:p>
          <a:p>
            <a:pPr algn="ctr" marL="0" indent="0">
              <a:buNone/>
            </a:pPr>
          </a:p>
          <a:p>
            <a:pPr algn="ctr" marL="0" indent="0">
              <a:buNone/>
            </a:pPr>
          </a:p>
          <a:p>
            <a:pPr algn="ctr" marL="0" indent="0">
              <a:buNone/>
            </a:pPr>
            <a:r>
              <a:rPr sz="1600" b="1">
                <a:solidFill>
                  <a:srgbClr val="1A1A1A"/>
                </a:solidFill>
                <a:latin typeface="Arial"/>
              </a:rPr>
              <a:t>Group Members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36605"/>
              </p:ext>
            </p:extLst>
          </p:nvPr>
        </p:nvGraphicFramePr>
        <p:xfrm>
          <a:off x="2284412" y="4552950"/>
          <a:ext cx="8101544" cy="200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4139144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</a:tblGrid>
              <a:tr h="3762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Aryan Raj Singh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&lt;Roll No&gt;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Backend, Agent Harness, Telemetry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&lt;Team Member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&lt;Roll No&gt;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Sandbox &amp; Infrastructure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&lt;Team Member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&lt;Roll No&gt;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Evaluation &amp; Benchmark Authoring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&lt;Team Member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&lt;Roll No&gt;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Documentation &amp; Dashboard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086947"/>
                  </a:ext>
                </a:extLst>
              </a:tr>
            </a:tbl>
          </a:graphicData>
        </a:graphic>
      </p:graphicFrame>
      <p:pic>
        <p:nvPicPr>
          <p:cNvPr id="3" name="Picture 2" descr="A black and red logo&#10;&#10;Description automatically generated">
            <a:extLst>
              <a:ext uri="{FF2B5EF4-FFF2-40B4-BE49-F238E27FC236}">
                <a16:creationId xmlns:a16="http://schemas.microsoft.com/office/drawing/2014/main" id="{9CEDF0D4-BD26-349A-2142-A1ADFB5C8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84" y="2996952"/>
            <a:ext cx="2688305" cy="115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1.   Introduction</a:t>
            </a:r>
            <a:endParaRPr lang="en-US" dirty="0"/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2.   Problem Definition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3.   Objectives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4.   Literature Survey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5.   Research Gap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6.   Proposed Methodology – System Architecture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7.   Proposed Methodology – Ablation Arms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8.   Feasibility Study, Need and Significance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9.   Facilities Required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10.   Expected Outcomes and 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Content Format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dirty="0">
                <a:latin typeface="Arial" pitchFamily="34" charset="0"/>
                <a:cs typeface="Arial" pitchFamily="34" charset="0"/>
              </a:rPr>
              <a:t>Heading (Arial Font Size: 32 Centre)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Subheading (Arial Font Size: 18 Left Aligned Bold)</a:t>
            </a:r>
          </a:p>
          <a:p>
            <a:r>
              <a:rPr lang="en-GB" sz="1600" dirty="0">
                <a:latin typeface="Arial" pitchFamily="34" charset="0"/>
                <a:cs typeface="Arial" pitchFamily="34" charset="0"/>
              </a:rPr>
              <a:t>Paragraph((Arial Font Size: 16 Left Aligned)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Use same kind of bullet type in full document</a:t>
            </a:r>
            <a:endParaRPr lang="en-GB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References should be in following format (Times New Roman Font Size12 Left Aligned)</a:t>
            </a:r>
            <a:endParaRPr lang="en-GB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[1]	D. Du, X.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Hu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"</a:t>
            </a:r>
            <a:r>
              <a:rPr lang="en-US" sz="1600" i="1" dirty="0">
                <a:latin typeface="Arial" pitchFamily="34" charset="0"/>
                <a:cs typeface="Arial" pitchFamily="34" charset="0"/>
              </a:rPr>
              <a:t>Steiner Tree Problems In Computer Communication Networks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", World Scientific Publishing Company,</a:t>
            </a:r>
            <a:r>
              <a:rPr lang="en-US" sz="1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2008.</a:t>
            </a:r>
            <a:endParaRPr lang="en-GB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 </a:t>
            </a:r>
            <a:endParaRPr lang="en-GB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[2]   Boon Ping Lim,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Poh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Kit Chong,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Ettikan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Kandasamy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Karuppiah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Yaszrina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Mohamad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Yassin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Amril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Nazir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Mohamed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Farid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Noor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Batcha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“</a:t>
            </a:r>
            <a:r>
              <a:rPr lang="en-US" sz="1600" i="1" dirty="0">
                <a:latin typeface="Arial" pitchFamily="34" charset="0"/>
                <a:cs typeface="Arial" pitchFamily="34" charset="0"/>
              </a:rPr>
              <a:t>FARCREST: Euclidean Steiner Tree-based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i="1" dirty="0">
                <a:latin typeface="Arial" pitchFamily="34" charset="0"/>
                <a:cs typeface="Arial" pitchFamily="34" charset="0"/>
              </a:rPr>
              <a:t>Cloud Service Latency Prediction System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”(2013) in 10th annual IEEE CCNC.</a:t>
            </a:r>
            <a:endParaRPr lang="en-GB" sz="1600" dirty="0">
              <a:latin typeface="Arial" pitchFamily="34" charset="0"/>
              <a:cs typeface="Arial" pitchFamily="34" charset="0"/>
            </a:endParaRPr>
          </a:p>
          <a:p>
            <a:endParaRPr lang="en-GB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AA5-D64D-404D-9F0D-B68D4DD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Feedback from the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91B4-BF36-4C6D-B04B-A777C2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panel wants the team to :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What is an autonomous software engineering agent?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An LLM operating a closed perception–action loop over a real development environment: it reads files, searches a repository, edits source, runs shell commands and tests, observes stdout/stderr, and revises its own work until the goal is met or a budget is exhausted.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What is the agent harness?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The software around the model — tool interface, prompting, control flow, context management, loop detection, model-selection policy and instrumentation. It involves no retraining, yet it decides what the system can actually do.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Why this matters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Harness design is worth an estimated 11–15 points of task resolution with the model held fixed.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One published result: 52.8 → 66.5 on Terminal-Bench 2.0 — harness changed, model unchanged.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That is comparable to, and often larger than, an entire model-generation upgrade.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The gap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Practitioners choose among many harness mechanisms — context injection, pre-completion verification, loop detection, compaction, sub-agent delegation, retrieval architecture, model routing, reasoning-effort allocation — with no controlled evidence attributing an effect size or a cost to any individual mechanism.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Three consequences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Effort is spent on fashionable mechanisms rather than effective ones.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Systems ship with unquantified unit economics: +2 points at 3× tokens is invisible.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The benchmarks used to settle such questions are compromised.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Benchmark validity has collapsed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OpenAI retired SWE-bench Verified in 2026: an audit of 138 problems found 59.4% materially defective, with frontier models reproducing reference patches verbatim.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Build a deliberately minimal coding-agent harness in which every mechanism is an independently switchable experimental arm rather than an architectural assumption.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Instrument every model call and tool invocation for tokens, monetary cost, latency and outcome, conforming to the OpenTelemetry GenAI semantic conventions.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Measure the marginal contribution of eight harness mechanisms to task resolution rate, token consumption, cost per task and p95 latency.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Execute each configuration a minimum of three times and report variance, since single-run agent benchmark figures are dominated by stochastic noise.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Author a decontaminated held-out task set so that findings survive scrutiny of benchmark validity.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Gate every pull request on an automated regression check so accumulated results are protected.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Publish the resulting attribution table, including negative results, as a reproducible artefact.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10512"/>
          <a:ext cx="1060704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011680"/>
                <a:gridCol w="502920"/>
                <a:gridCol w="4023360"/>
                <a:gridCol w="36576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Sr.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ReAct (Yao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Interleaves reasoning with actions; the control paradigm coding agents use.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Defines the loop, not what makes it reliable.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Reflexion (Shinn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Verbal self-reflection over failures without weight updates.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component attribution or cost accounting.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SWE-bench (Jimenez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First large-scale real GitHub issue benchmark.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Saturated and contaminated; retired 2026.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SWE-agent (Yang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Purpose-built Agent-Computer Interface raises resolution sharply.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Shows interface matters; does not decompose it.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OpenHands (Wang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Open generalist software-development agent platform.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Optimises a whole product; mechanisms entangled.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Lost in the Middle (Liu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Retrieval degrades for mid-context information.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Diagnoses; does not evaluate remedies in a loop.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RouteLLM (Ong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Learned routing: ~95% quality at ~26% of cost.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Chat benchmarks, not long-horizon agentic tasks.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SWE-rebench (Badertdinov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Automated decontaminated task collection pipeline.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Clean tasks, but whole-system evaluation.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SWE-Bench Pro (Scale AI)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1,865 long-horizon tasks, ~107 LOC over ~4.1 files.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Raises difficulty; attribution untouched.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Terminal-Bench (Merrill et al.)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89 sandboxed CLI tasks, end-state verification, pluggable agents.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Supplies the substrate; supplies no ablations.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What the literature establishes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The harness is the dominant controllable factor in coding-agent performance.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What it does not establish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No work isolates individual harness mechanisms under controlled conditions — published results compare complete systems, so a practitioner cannot tell which of a dozen simultaneous design choices produced an observed improvement.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Cost is almost universally omitted. Benchmarks report resolution rate, not the tokens or currency spent to achieve it, although that ratio decides whether a technique is deployable.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The benchmarks conventionally used for such measurement are demonstrably invalid.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The gap AMASE occupies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600">
                <a:solidFill>
                  <a:srgbClr val="1A1A1A"/>
                </a:solidFill>
                <a:latin typeface="Arial"/>
              </a:rPr>
              <a:t>A reproducible, cost-annotated, contamination-resistant framework that attributes agent performance to its individual harness components — addressing all four conditions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Proposed Methodology – System Architecture</a:t>
            </a:r>
          </a:p>
        </p:txBody>
      </p:sp>
      <p:pic>
        <p:nvPicPr>
          <p:cNvPr id="3" name="Picture 2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783080"/>
            <a:ext cx="5065427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Proposed Methodology – Harness Ablation Arms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10512"/>
          <a:ext cx="106070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48840"/>
                <a:gridCol w="4526280"/>
                <a:gridCol w="33375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Hypothesis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Environment context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Directory map, tool discovery and budget stated at startup.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Small gain, low token cost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Pre-completion checklist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Blocks completion until output is verified and tests run.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Largest single effect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Doom-loop detection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Per-file edit counters trigger a forced re-plan.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Fewer catastrophic runs; better p95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A4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Compaction strategy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Truncation vs summarisation vs external notes file.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Notes win on long-horizon tasks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A5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Sub-agent delegation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Review in a clean context, returning a condensed summary.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Positive only past a length threshold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A6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Retrieval mode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Agentic search vs BM25 + dense + cross-encoder rerank.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Agentic wins on exact symbols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A7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Model routing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Frontier for plan/debug, local SLM for mechanical edits.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Large cost cut, small quality loss</a:t>
                      </a:r>
                    </a:p>
                  </a:txBody>
                  <a:tcPr marL="54864" marR="54864" marT="18288" marB="18288"/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A8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Reasoning budget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Uniform effort vs high-plan / mid-build / high-verify.</a:t>
                      </a:r>
                    </a:p>
                  </a:txBody>
                  <a:tcPr marL="54864" marR="54864" marT="18288" marB="18288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Better resolution per rupee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Feasibility Study, Need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Technical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Every component is mature and open source — LangGraph, Docker, Langfuse, DeepEval, Ollama, Terminal-Bench. No model training, no specialised hardware, no proprietary dataset.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Economic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Full matrix runs on a cheap or local model; frontier models only for final confirmation. Hard per-rollout caps on turns, time and spend. Spend tracked in the same telemetry pipeline.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Operational and Schedule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Operated by the developers, so no adoption risk. Five phases with explicit exit criteria; the measurement infrastructure is completed before any experimental arm is attempted.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Need and Significance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Agents are deployed in production on anecdotal design evidence, while the usual means of settling such questions has been withdrawn by its own authors.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Contribution: an attribution of effect and cost per mechanism, a reusable experimental apparatus, and a decontaminated task set. Negative results carry equal weight.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Facilities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Hardware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Intel Core i5 (8th gen) / AMD Ryzen 5 or better; 16 GB RAM (32 GB recommended); 256 GB SSD with 80 GB free; NVIDIA GPU with 8 GB VRAM (optional, for the local-model routing arm).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Python 3.11 with uv; LangGraph for the stateful control loop; Docker Engine and Compose for sandboxes; E2B SDK behind the same interface for microVM isolation.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OpenTelemetry SDK with a self-hosted Langfuse backend; DeepEval and pytest for the CI gate; Terminal-Bench 2.x as the task harness.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Qdrant, rank_bm25, sentence-transformers and tree-sitter for the hybrid retrieval arm; Ollama and vLLM for local model serving; pandas and matplotlib for analysis.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Data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Terminal-Bench 2.x public dataset, plus 25–40 self-authored held-out tasks in three difficulty tiers, drawn from repositories with no plausible training-corpus presence.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3200" b="1">
                <a:solidFill>
                  <a:srgbClr val="1A1A1A"/>
                </a:solidFill>
                <a:latin typeface="Arial"/>
              </a:rPr>
              <a:t>Expected Outcomes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Expected outcomes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An attribution table: for each of eight mechanisms, its marginal effect on resolution rate with token and monetary cost attached, reported with variance over n ≥ 3 runs.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Cost–quality curves for the routing and retrieval arms, with the operating knee identified.</a:t>
            </a:r>
          </a:p>
          <a:p>
            <a:pPr algn="l" marL="228600" indent="-228600">
              <a:spcAft>
                <a:spcPts val="400"/>
              </a:spcAft>
              <a:buFont typeface="Arial" pitchFamily="34" charset="0"/>
              <a:buChar char="•"/>
            </a:pPr>
            <a:r>
              <a:rPr sz="1600">
                <a:solidFill>
                  <a:srgbClr val="1A1A1A"/>
                </a:solidFill>
                <a:latin typeface="Arial"/>
              </a:rPr>
              <a:t>A reproducible apparatus and a decontaminated task set, released with the write-up.</a:t>
            </a:r>
          </a:p>
          <a:p>
            <a:pPr algn="l"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1A1A1A"/>
                </a:solidFill>
                <a:latin typeface="Arial"/>
              </a:rPr>
              <a:t>References</a:t>
            </a:r>
          </a:p>
          <a:p>
            <a:pPr algn="l" marL="228600" indent="-228600">
              <a:spcAft>
                <a:spcPts val="100"/>
              </a:spcAft>
              <a:buNone/>
            </a:pPr>
            <a:r>
              <a:rPr sz="1200">
                <a:solidFill>
                  <a:srgbClr val="1A1A1A"/>
                </a:solidFill>
                <a:latin typeface="Times New Roman"/>
              </a:rPr>
              <a:t>[1]  S. Yao et al., “ReAct: Synergizing Reasoning and Acting in Language Models”, arXiv:2210.03629, 2022.</a:t>
            </a:r>
          </a:p>
          <a:p>
            <a:pPr algn="l" marL="228600" indent="-228600">
              <a:spcAft>
                <a:spcPts val="100"/>
              </a:spcAft>
              <a:buNone/>
            </a:pPr>
            <a:r>
              <a:rPr sz="1200">
                <a:solidFill>
                  <a:srgbClr val="1A1A1A"/>
                </a:solidFill>
                <a:latin typeface="Times New Roman"/>
              </a:rPr>
              <a:t>[2]  C. E. Jimenez et al., “SWE-bench: Can Language Models Resolve Real-World GitHub Issues?”, arXiv:2310.06770, 2023.</a:t>
            </a:r>
          </a:p>
          <a:p>
            <a:pPr algn="l" marL="228600" indent="-228600">
              <a:spcAft>
                <a:spcPts val="100"/>
              </a:spcAft>
              <a:buNone/>
            </a:pPr>
            <a:r>
              <a:rPr sz="1200">
                <a:solidFill>
                  <a:srgbClr val="1A1A1A"/>
                </a:solidFill>
                <a:latin typeface="Times New Roman"/>
              </a:rPr>
              <a:t>[3]  J. Yang et al., “SWE-agent: Agent-Computer Interfaces Enable Automated Software Engineering”, NeurIPS, 2024.</a:t>
            </a:r>
          </a:p>
          <a:p>
            <a:pPr algn="l" marL="228600" indent="-228600">
              <a:spcAft>
                <a:spcPts val="100"/>
              </a:spcAft>
              <a:buNone/>
            </a:pPr>
            <a:r>
              <a:rPr sz="1200">
                <a:solidFill>
                  <a:srgbClr val="1A1A1A"/>
                </a:solidFill>
                <a:latin typeface="Times New Roman"/>
              </a:rPr>
              <a:t>[4]  I. Ong et al., “RouteLLM: Learning to Route LLMs with Preference Data”, arXiv:2406.18665, 2024.</a:t>
            </a:r>
          </a:p>
          <a:p>
            <a:pPr algn="l" marL="228600" indent="-228600">
              <a:spcAft>
                <a:spcPts val="100"/>
              </a:spcAft>
              <a:buNone/>
            </a:pPr>
            <a:r>
              <a:rPr sz="1200">
                <a:solidFill>
                  <a:srgbClr val="1A1A1A"/>
                </a:solidFill>
                <a:latin typeface="Times New Roman"/>
              </a:rPr>
              <a:t>[5]  M. A. Merrill et al., “Terminal-Bench: Benchmarking Agents on Hard, Realistic Tasks in CLIs”, arXiv:2601.11868, 2026.</a:t>
            </a:r>
          </a:p>
          <a:p>
            <a:pPr algn="l" marL="228600" indent="-228600">
              <a:spcAft>
                <a:spcPts val="100"/>
              </a:spcAft>
              <a:buNone/>
            </a:pPr>
            <a:r>
              <a:rPr sz="1200">
                <a:solidFill>
                  <a:srgbClr val="1A1A1A"/>
                </a:solidFill>
                <a:latin typeface="Times New Roman"/>
              </a:rPr>
              <a:t>[6]  OpenAI, “Why SWE-bench Verified No Longer Measures Frontier Coding Capabilities”,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1426</TotalTime>
  <Words>210</Words>
  <Application>Microsoft Office PowerPoint</Application>
  <PresentationFormat>Custom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굴림</vt:lpstr>
      <vt:lpstr>Arial</vt:lpstr>
      <vt:lpstr>Century Gothic</vt:lpstr>
      <vt:lpstr>Times New Roman</vt:lpstr>
      <vt:lpstr>Vertical and Horizontal design template</vt:lpstr>
      <vt:lpstr>Project Title</vt:lpstr>
      <vt:lpstr>Index</vt:lpstr>
      <vt:lpstr>Content Format </vt:lpstr>
      <vt:lpstr>PowerPoint Presentation</vt:lpstr>
      <vt:lpstr>Feedback from the Panel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Rahul Sharma</cp:lastModifiedBy>
  <cp:revision>77</cp:revision>
  <dcterms:created xsi:type="dcterms:W3CDTF">2017-11-16T17:39:44Z</dcterms:created>
  <dcterms:modified xsi:type="dcterms:W3CDTF">2025-02-18T09:10:00Z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